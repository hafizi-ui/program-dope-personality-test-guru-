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  <p:sldId id="269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A24"/>
                </a:solidFill>
                <a:latin typeface="Calibri"/>
              </a:defRPr>
            </a:pPr>
            <a:r>
              <a:rPr lang="en-MY" sz="1300" b="0" i="0" u="none" strike="noStrike">
                <a:solidFill>
                  <a:srgbClr val="1F2A24"/>
                </a:solidFill>
                <a:latin typeface="Calibri"/>
              </a:rPr>
              <a:t>Taburan 17,000+ keputusan ujian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Jenis personaliti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997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CB9-4D03-9705-6FBF21130D0B}"/>
              </c:ext>
            </c:extLst>
          </c:dPt>
          <c:dPt>
            <c:idx val="1"/>
            <c:bubble3D val="0"/>
            <c:spPr>
              <a:solidFill>
                <a:srgbClr val="5B8D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CB9-4D03-9705-6FBF21130D0B}"/>
              </c:ext>
            </c:extLst>
          </c:dPt>
          <c:dPt>
            <c:idx val="2"/>
            <c:bubble3D val="0"/>
            <c:spPr>
              <a:solidFill>
                <a:srgbClr val="8B5A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CB9-4D03-9705-6FBF21130D0B}"/>
              </c:ext>
            </c:extLst>
          </c:dPt>
          <c:dPt>
            <c:idx val="3"/>
            <c:bubble3D val="0"/>
            <c:spPr>
              <a:solidFill>
                <a:srgbClr val="0E8A7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CB9-4D03-9705-6FBF21130D0B}"/>
              </c:ext>
            </c:extLst>
          </c:dPt>
          <c:dLbls>
            <c:dLbl>
              <c:idx val="0"/>
              <c:numFmt formatCode="0.0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B9-4D03-9705-6FBF21130D0B}"/>
                </c:ext>
              </c:extLst>
            </c:dLbl>
            <c:dLbl>
              <c:idx val="1"/>
              <c:numFmt formatCode="0.0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B9-4D03-9705-6FBF21130D0B}"/>
                </c:ext>
              </c:extLst>
            </c:dLbl>
            <c:dLbl>
              <c:idx val="2"/>
              <c:numFmt formatCode="0.0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CB9-4D03-9705-6FBF21130D0B}"/>
                </c:ext>
              </c:extLst>
            </c:dLbl>
            <c:dLbl>
              <c:idx val="3"/>
              <c:numFmt formatCode="0.00&quot;%&quot;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CB9-4D03-9705-6FBF21130D0B}"/>
                </c:ext>
              </c:extLst>
            </c:dLbl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Eagle</c:v>
                </c:pt>
                <c:pt idx="1">
                  <c:v>Dove</c:v>
                </c:pt>
                <c:pt idx="2">
                  <c:v>Owl</c:v>
                </c:pt>
                <c:pt idx="3">
                  <c:v>Peacock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29.15</c:v>
                </c:pt>
                <c:pt idx="1">
                  <c:v>24.35</c:v>
                </c:pt>
                <c:pt idx="2">
                  <c:v>23.94</c:v>
                </c:pt>
                <c:pt idx="3">
                  <c:v>22.56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CB9-4D03-9705-6FBF21130D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A2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450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Selamat datang! Kenalkan fasilitator. Aktiviti: siapa pernah jawab ujian personaliti online? Angkat tangan.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 peserta: 90% tu terkejut tak? Nota: sahkan dan sertakan sumber untuk angka 17K+ dan 90% sebelum pembentangan.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Nota: sahkan sumber untuk angka 78% dan 82% sebelum pembentangan.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Terangkan kelebihan dan kelemahan setiap personaliti. Tekankan: tiada personaliti yang lebih baik, semua ada peranan dalam pasukan.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06440" y="960120"/>
            <a:ext cx="1188720" cy="1188720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507" y="1269187"/>
            <a:ext cx="570586" cy="57058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223760" y="960120"/>
            <a:ext cx="1188720" cy="1188720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2827" y="1269187"/>
            <a:ext cx="570586" cy="57058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806440" y="2377440"/>
            <a:ext cx="1188720" cy="1188720"/>
          </a:xfrm>
          <a:prstGeom prst="ellipse">
            <a:avLst/>
          </a:prstGeom>
          <a:solidFill>
            <a:srgbClr val="0E8A7E"/>
          </a:solidFill>
          <a:ln w="12700">
            <a:solidFill>
              <a:srgbClr val="0E8A7E"/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5507" y="2686507"/>
            <a:ext cx="570586" cy="570586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223760" y="2377440"/>
            <a:ext cx="1188720" cy="118872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2827" y="2686507"/>
            <a:ext cx="570586" cy="570586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57200" y="822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DOPE PERSONALITY TEST (GURU)</a:t>
            </a:r>
            <a:endParaRPr lang="en-US" sz="1200" dirty="0"/>
          </a:p>
        </p:txBody>
      </p:sp>
      <p:sp>
        <p:nvSpPr>
          <p:cNvPr id="11" name="Text 5"/>
          <p:cNvSpPr txBox="1"/>
          <p:nvPr/>
        </p:nvSpPr>
        <p:spPr>
          <a:xfrm>
            <a:off x="457200" y="1188720"/>
            <a:ext cx="5120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APAKAH PERSONALITY ANDA?</a:t>
            </a:r>
            <a:endParaRPr lang="en-US" sz="4000" dirty="0"/>
          </a:p>
        </p:txBody>
      </p:sp>
      <p:sp>
        <p:nvSpPr>
          <p:cNvPr id="12" name="Text 6"/>
          <p:cNvSpPr txBox="1"/>
          <p:nvPr/>
        </p:nvSpPr>
        <p:spPr>
          <a:xfrm>
            <a:off x="457200" y="25603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 kenal diri sendiri melalui DOPE dan DP Personality Game Board</a:t>
            </a:r>
            <a:endParaRPr lang="en-US" sz="1600" dirty="0"/>
          </a:p>
        </p:txBody>
      </p:sp>
      <p:sp>
        <p:nvSpPr>
          <p:cNvPr id="13" name="Text 7"/>
          <p:cNvSpPr txBox="1"/>
          <p:nvPr/>
        </p:nvSpPr>
        <p:spPr>
          <a:xfrm>
            <a:off x="457200" y="3566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Fasilitator: Jabatan Perniagaan, KPTM Kuantan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Ahmad Hafizi bin Ahmad Giran • Sharifah Fatimah Khairulnisha binti Syd Noh • Faridah binti Ishak • Lukman Hakim bin Mat Nasir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ATURCARA PROGRAM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Kita Buat Hari Ini?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" y="17903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24871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7614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Pembukaan &amp; Ceramah Pengenalan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4290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masuk, ice-breaking dan kenal-kenal dengan ujian personaliti DOPE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044952" y="26517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8A7E"/>
                </a:solidFill>
              </a:rPr>
              <a:t>›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3273552" y="13258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547872" y="1600200"/>
            <a:ext cx="731520" cy="731520"/>
          </a:xfrm>
          <a:prstGeom prst="ellipse">
            <a:avLst/>
          </a:prstGeom>
          <a:solidFill>
            <a:srgbClr val="0E8A7E"/>
          </a:solidFill>
          <a:ln w="12700">
            <a:solidFill>
              <a:srgbClr val="0E8A7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8067" y="179039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47872" y="24871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 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547872" y="27614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Aktiviti DP Personality Game Board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547872" y="34290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game dalam kumpulan (4 orang satu papan). Fasilitator KPTM Kuantan akan bantu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861304" y="265176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8A7E"/>
                </a:solidFill>
              </a:rPr>
              <a:t>›</a:t>
            </a:r>
            <a:endParaRPr lang="en-US" sz="2800" dirty="0"/>
          </a:p>
        </p:txBody>
      </p:sp>
      <p:sp>
        <p:nvSpPr>
          <p:cNvPr id="18" name="Shape 14"/>
          <p:cNvSpPr/>
          <p:nvPr/>
        </p:nvSpPr>
        <p:spPr>
          <a:xfrm>
            <a:off x="6089904" y="132588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64224" y="1600200"/>
            <a:ext cx="731520" cy="73152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4419" y="1790395"/>
            <a:ext cx="351130" cy="35113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64224" y="24871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9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 3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364224" y="27614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Ceramah Susulan &amp; Refleksi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364224" y="342900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Tengok keputusan, borak-borak refleksi, penutup dan ambil sijil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3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554480"/>
            <a:ext cx="1463040" cy="1463040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" y="1934870"/>
            <a:ext cx="702259" cy="7022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560320" y="14173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 1  •  PEMBUKAAN &amp; CERAMAH PENGENALAN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2560320" y="182880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Jom Kenal DOPE!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560320" y="29718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</a:t>
            </a:r>
            <a:r>
              <a:rPr lang="en-US" sz="15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kenal</a:t>
            </a:r>
            <a:r>
              <a:rPr lang="en-US" sz="15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</a:t>
            </a:r>
            <a:r>
              <a:rPr lang="en-US" sz="15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personaliti DOPE.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ICE-BREAKING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REFLEKSI!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Tengok empat </a:t>
            </a:r>
            <a:r>
              <a:rPr lang="en-US" sz="1500" dirty="0" err="1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watak</a:t>
            </a:r>
            <a:r>
              <a:rPr lang="en-US" sz="15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r>
              <a:rPr lang="en-US" sz="15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 </a:t>
            </a:r>
            <a:r>
              <a:rPr lang="en-US" sz="1500" dirty="0" err="1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teka</a:t>
            </a:r>
            <a:r>
              <a:rPr lang="en-US" sz="15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Yang mana paling "kena" dengan diri anda?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874520" cy="25146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783080"/>
            <a:ext cx="777240" cy="777240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922" y="1985162"/>
            <a:ext cx="373075" cy="37307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26974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B8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Dove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090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Merpati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383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Tenang &amp; harmoni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560320" y="1554480"/>
            <a:ext cx="1874520" cy="25146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108960" y="1783080"/>
            <a:ext cx="777240" cy="777240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1042" y="198516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560320" y="26974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Owl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2560320" y="3090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Burung Hantu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2697480" y="3383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Bijak &amp; analitikal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663440" y="1554480"/>
            <a:ext cx="1874520" cy="25146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212080" y="1783080"/>
            <a:ext cx="777240" cy="777240"/>
          </a:xfrm>
          <a:prstGeom prst="ellipse">
            <a:avLst/>
          </a:prstGeom>
          <a:solidFill>
            <a:srgbClr val="0E8A7E"/>
          </a:solidFill>
          <a:ln w="12700">
            <a:solidFill>
              <a:srgbClr val="0E8A7E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4162" y="1985162"/>
            <a:ext cx="373075" cy="37307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663440" y="26974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E8A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Peacock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4663440" y="3090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Merak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800600" y="3383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Ekspresif &amp; bersosial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766560" y="1554480"/>
            <a:ext cx="1874520" cy="251460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DE5E0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315200" y="1783080"/>
            <a:ext cx="777240" cy="77724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7282" y="1985162"/>
            <a:ext cx="373075" cy="37307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766560" y="26974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99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Eagle</a:t>
            </a:r>
            <a:endParaRPr lang="en-US" sz="2000" dirty="0"/>
          </a:p>
        </p:txBody>
      </p:sp>
      <p:sp>
        <p:nvSpPr>
          <p:cNvPr id="27" name="Text 21"/>
          <p:cNvSpPr txBox="1"/>
          <p:nvPr/>
        </p:nvSpPr>
        <p:spPr>
          <a:xfrm>
            <a:off x="6766560" y="309067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Helang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6903720" y="33832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 &amp; berorientasikan matlamat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40080" y="4297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Nanti</a:t>
            </a: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kita semak balik di hujung program!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CERAMAH PENGENALAN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7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Apakah</a:t>
            </a:r>
            <a:r>
              <a:rPr lang="en-US" sz="3000" b="1" dirty="0">
                <a:solidFill>
                  <a:srgbClr val="17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3000" b="1" dirty="0" err="1">
                <a:solidFill>
                  <a:srgbClr val="17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itu</a:t>
            </a:r>
            <a:r>
              <a:rPr lang="en-US" sz="3000" b="1" dirty="0">
                <a:solidFill>
                  <a:srgbClr val="17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DOPE?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188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Tenang &amp; harmoni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057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Bijak &amp; analitikal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0E8A7E"/>
          </a:solidFill>
          <a:ln w="12700">
            <a:solidFill>
              <a:srgbClr val="0E8A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9260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926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Peacock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Ekspresif &amp; bersosial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794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794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</a:t>
            </a:r>
            <a:endParaRPr lang="en-US" sz="1600" dirty="0"/>
          </a:p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 &amp; berorientasikan matlamat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0" y="1188720"/>
            <a:ext cx="4572000" cy="1024128"/>
          </a:xfrm>
          <a:prstGeom prst="roundRect">
            <a:avLst>
              <a:gd name="adj" fmla="val 10714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426464"/>
            <a:ext cx="548640" cy="548640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0326" y="1569110"/>
            <a:ext cx="263347" cy="263347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5029200" y="1261872"/>
            <a:ext cx="3520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mana datangnya?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Dicipta oleh Richard N. Stephenson, berasaskan empat jenis personaliti Dr. Gary Couture serta model B.E.S.T. dan DiSC (Dr. William Marston).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114800" y="2359152"/>
            <a:ext cx="4572000" cy="1024128"/>
          </a:xfrm>
          <a:prstGeom prst="roundRect">
            <a:avLst>
              <a:gd name="adj" fmla="val 10714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97680" y="2596896"/>
            <a:ext cx="548640" cy="548640"/>
          </a:xfrm>
          <a:prstGeom prst="ellipse">
            <a:avLst/>
          </a:prstGeom>
          <a:solidFill>
            <a:srgbClr val="0E8A7E"/>
          </a:solidFill>
          <a:ln w="12700">
            <a:solidFill>
              <a:srgbClr val="0E8A7E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326" y="2739542"/>
            <a:ext cx="263347" cy="263347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029200" y="2432304"/>
            <a:ext cx="3520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Ramai dah cuba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Boleh cuba percuma di richardstep.com. Dah lebih 3.7 juta orang jawab!</a:t>
            </a:r>
            <a:endParaRPr lang="en-US" sz="1400" dirty="0"/>
          </a:p>
        </p:txBody>
      </p:sp>
      <p:sp>
        <p:nvSpPr>
          <p:cNvPr id="24" name="Shape 20"/>
          <p:cNvSpPr/>
          <p:nvPr/>
        </p:nvSpPr>
        <p:spPr>
          <a:xfrm>
            <a:off x="4114800" y="3529584"/>
            <a:ext cx="4572000" cy="1024128"/>
          </a:xfrm>
          <a:prstGeom prst="roundRect">
            <a:avLst>
              <a:gd name="adj" fmla="val 10714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297680" y="3767328"/>
            <a:ext cx="548640" cy="54864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0326" y="3909974"/>
            <a:ext cx="263347" cy="263347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029200" y="3602736"/>
            <a:ext cx="3520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 je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soalan, pilih satu daripada 4 perkataan. Siap dalam 5–6 minit.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CERAMAH PENGENALAN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7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Ketepatan</a:t>
            </a:r>
            <a:r>
              <a:rPr lang="en-US" sz="3000" b="1" dirty="0">
                <a:solidFill>
                  <a:srgbClr val="17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DOPE?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51560"/>
          <a:ext cx="40233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663440" y="114300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8A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17K+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1430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keputusan ujian dah dianalisis, dan taburannya seimbang untuk keempat-empat personaliti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237744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997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2377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pelajar kata keputusan DOPE memang "kena" dengan diri mereka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3657600"/>
            <a:ext cx="4023360" cy="960120"/>
          </a:xfrm>
          <a:prstGeom prst="roundRect">
            <a:avLst>
              <a:gd name="adj" fmla="val 11429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846320" y="36576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2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Personaliti kita mempengaruhi cara kita bercakap, berunding dan jadi orang tengah, sama ada di sekolah atau di tempat kerja.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CERAMAH PENGENALAN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Cikgu Perlu Tahu?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B8D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19456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pelajar di Malaysia keliru tentang identiti dan personaliti diri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06040" y="1234440"/>
            <a:ext cx="1965960" cy="2194560"/>
          </a:xfrm>
          <a:prstGeom prst="roundRect">
            <a:avLst>
              <a:gd name="adj" fmla="val 558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371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8B5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82%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770632" y="2194560"/>
            <a:ext cx="1645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 kata kurang faham personaliti murid ialah cabaran besar di kelas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983480" y="1325880"/>
            <a:ext cx="566928" cy="566928"/>
          </a:xfrm>
          <a:prstGeom prst="ellipse">
            <a:avLst/>
          </a:prstGeom>
          <a:solidFill>
            <a:srgbClr val="0E8A7E"/>
          </a:solidFill>
          <a:ln w="12700">
            <a:solidFill>
              <a:srgbClr val="0E8A7E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81" y="1473281"/>
            <a:ext cx="272125" cy="27212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715000" y="123444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Kenal diri dulu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faham gaya sendiri, lebih senang nak sesuaikan cara mengajar.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83480" y="2423160"/>
            <a:ext cx="566928" cy="56692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81" y="2570561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715000" y="23317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Faham murid &amp; kawan sekerja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personaliti ada cara sendiri untuk bercakap dan bekerja.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4983480" y="3520440"/>
            <a:ext cx="566928" cy="566928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0881" y="366784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715000" y="342900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 rasa macam "ujian"</a:t>
            </a:r>
            <a:endParaRPr lang="en-US" sz="14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MBTI </a:t>
            </a:r>
            <a:r>
              <a:rPr lang="en-US" sz="1150" dirty="0" err="1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atau</a:t>
            </a: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DISC terlalu peribadi. Sisi </a:t>
            </a:r>
            <a:r>
              <a:rPr lang="en-US" sz="1150" dirty="0" err="1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</a:t>
            </a: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ujian</a:t>
            </a: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DOPE  </a:t>
            </a:r>
            <a:r>
              <a:rPr lang="en-US" sz="1150" dirty="0" err="1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berdasarkan</a:t>
            </a: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game je.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384048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 err="1">
                <a:solidFill>
                  <a:srgbClr val="22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</a:t>
            </a:r>
            <a:r>
              <a:rPr lang="en-US" sz="1250" i="1" dirty="0">
                <a:solidFill>
                  <a:srgbClr val="22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i="1" dirty="0" err="1">
                <a:solidFill>
                  <a:srgbClr val="22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kenali</a:t>
            </a:r>
            <a:r>
              <a:rPr lang="en-US" sz="1250" i="1" dirty="0">
                <a:solidFill>
                  <a:srgbClr val="22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personality </a:t>
            </a:r>
            <a:r>
              <a:rPr lang="en-US" sz="1250" i="1" dirty="0" err="1">
                <a:solidFill>
                  <a:srgbClr val="22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250" i="1" dirty="0">
                <a:solidFill>
                  <a:srgbClr val="22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250" i="1" dirty="0" err="1">
                <a:solidFill>
                  <a:srgbClr val="22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komunikasi</a:t>
            </a:r>
            <a:r>
              <a:rPr lang="en-US" sz="1250" i="1" dirty="0">
                <a:solidFill>
                  <a:srgbClr val="225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kerja berpasukan dan kenal diri sendiri.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3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554480"/>
            <a:ext cx="1463040" cy="1463040"/>
          </a:xfrm>
          <a:prstGeom prst="ellipse">
            <a:avLst/>
          </a:prstGeom>
          <a:solidFill>
            <a:srgbClr val="0E8A7E"/>
          </a:solidFill>
          <a:ln w="12700">
            <a:solidFill>
              <a:srgbClr val="0E8A7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" y="1934870"/>
            <a:ext cx="702259" cy="7022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560320" y="14173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 2  •  AKTIVITI DP PERSONALITY GAME BOARD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2560320" y="182880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Jom Main!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560320" y="29718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orang satu papan. Jangan risau, fasilitator KPTM Kuantan ada untuk bantu.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Kenali Game Board Kita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1554480"/>
          </a:xfrm>
          <a:prstGeom prst="roundRect">
            <a:avLst>
              <a:gd name="adj" fmla="val 7059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rgbClr val="0E8A7E"/>
          </a:solidFill>
          <a:ln w="12700">
            <a:solidFill>
              <a:srgbClr val="0E8A7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2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19933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Papan permainan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042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kad aksi, dadu dan token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51760" y="1188720"/>
            <a:ext cx="2011680" cy="1554480"/>
          </a:xfrm>
          <a:prstGeom prst="roundRect">
            <a:avLst>
              <a:gd name="adj" fmla="val 7059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34640" y="1371600"/>
            <a:ext cx="548640" cy="54864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7286" y="151424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834640" y="19933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DOPE Boxes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2834640" y="230428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baling dadu dan </a:t>
            </a:r>
            <a:r>
              <a:rPr lang="en-US" sz="1050" dirty="0" err="1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</a:t>
            </a: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926080"/>
            <a:ext cx="2011680" cy="1554480"/>
          </a:xfrm>
          <a:prstGeom prst="roundRect">
            <a:avLst>
              <a:gd name="adj" fmla="val 7059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726" y="325160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080" y="37307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orang satu papan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40416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beramai-ramai dalam kumpulan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651760" y="2926080"/>
            <a:ext cx="2011680" cy="1554480"/>
          </a:xfrm>
          <a:prstGeom prst="roundRect">
            <a:avLst>
              <a:gd name="adj" fmla="val 7059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834640" y="3108960"/>
            <a:ext cx="548640" cy="548640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7286" y="325160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834640" y="373075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Fasilitator KPTM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2834640" y="4041648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Sentiasa ada untuk bantu setiap kumpulan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50749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cikgu akan tahu: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5074920" y="1691640"/>
            <a:ext cx="411480" cy="411480"/>
          </a:xfrm>
          <a:prstGeom prst="ellipse">
            <a:avLst/>
          </a:prstGeom>
          <a:solidFill>
            <a:srgbClr val="17362B"/>
          </a:solidFill>
          <a:ln w="12700">
            <a:solidFill>
              <a:srgbClr val="17362B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07492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5669280" y="16916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anda paling hebat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5074920" y="2295144"/>
            <a:ext cx="411480" cy="411480"/>
          </a:xfrm>
          <a:prstGeom prst="ellipse">
            <a:avLst/>
          </a:prstGeom>
          <a:solidFill>
            <a:srgbClr val="17362B"/>
          </a:solidFill>
          <a:ln w="12700">
            <a:solidFill>
              <a:srgbClr val="17362B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074920" y="22951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5669280" y="229514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boleh diperbaiki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5074920" y="2898648"/>
            <a:ext cx="411480" cy="411480"/>
          </a:xfrm>
          <a:prstGeom prst="ellipse">
            <a:avLst/>
          </a:prstGeom>
          <a:solidFill>
            <a:srgbClr val="17362B"/>
          </a:solidFill>
          <a:ln w="12700">
            <a:solidFill>
              <a:srgbClr val="17362B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074920" y="28986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3" name="Text 27"/>
          <p:cNvSpPr txBox="1"/>
          <p:nvPr/>
        </p:nvSpPr>
        <p:spPr>
          <a:xfrm>
            <a:off x="5669280" y="2898648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Kerjaya yang sesuai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5074920" y="3502152"/>
            <a:ext cx="411480" cy="411480"/>
          </a:xfrm>
          <a:prstGeom prst="ellipse">
            <a:avLst/>
          </a:prstGeom>
          <a:solidFill>
            <a:srgbClr val="17362B"/>
          </a:solidFill>
          <a:ln w="12700">
            <a:solidFill>
              <a:srgbClr val="17362B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5074920" y="3502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5669280" y="35021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anda bergaul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5074920" y="4105656"/>
            <a:ext cx="411480" cy="411480"/>
          </a:xfrm>
          <a:prstGeom prst="ellipse">
            <a:avLst/>
          </a:prstGeom>
          <a:solidFill>
            <a:srgbClr val="17362B"/>
          </a:solidFill>
          <a:ln w="12700">
            <a:solidFill>
              <a:srgbClr val="17362B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5074920" y="41056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3"/>
          <p:cNvSpPr txBox="1"/>
          <p:nvPr/>
        </p:nvSpPr>
        <p:spPr>
          <a:xfrm>
            <a:off x="5669280" y="410565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Gaya anda bekerja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Macam Mana Nak Main?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640080" cy="640080"/>
          </a:xfrm>
          <a:prstGeom prst="ellipse">
            <a:avLst/>
          </a:prstGeom>
          <a:solidFill>
            <a:srgbClr val="17362B"/>
          </a:solidFill>
          <a:ln w="12700">
            <a:solidFill>
              <a:srgbClr val="17362B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1" y="13094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70432" y="1143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D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token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212848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token masing-masing. Fasilitator akan terangkan sikit dan bagi carta skor.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60320" y="1143000"/>
            <a:ext cx="640080" cy="640080"/>
          </a:xfrm>
          <a:prstGeom prst="ellipse">
            <a:avLst/>
          </a:prstGeom>
          <a:solidFill>
            <a:srgbClr val="17362B"/>
          </a:solidFill>
          <a:ln w="12700">
            <a:solidFill>
              <a:srgbClr val="17362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6741" y="130942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273552" y="1143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D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8"/>
          <p:cNvSpPr txBox="1"/>
          <p:nvPr/>
        </p:nvSpPr>
        <p:spPr>
          <a:xfrm>
            <a:off x="256032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Baling &amp; jalan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560320" y="2212848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Baling dadu, gerakkan token. Tempat anda berhenti tentukan kad mana nak dicabut.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63440" y="1143000"/>
            <a:ext cx="640080" cy="640080"/>
          </a:xfrm>
          <a:prstGeom prst="ellipse">
            <a:avLst/>
          </a:prstGeom>
          <a:solidFill>
            <a:srgbClr val="17362B"/>
          </a:solidFill>
          <a:ln w="12700">
            <a:solidFill>
              <a:srgbClr val="17362B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9861" y="130942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376672" y="1143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D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2"/>
          <p:cNvSpPr txBox="1"/>
          <p:nvPr/>
        </p:nvSpPr>
        <p:spPr>
          <a:xfrm>
            <a:off x="466344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Jawab &amp; tanda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663440" y="2212848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Dove, Owl, Peacock atau Eagle, lepas tu tanda dalam carta skor.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766560" y="1143000"/>
            <a:ext cx="640080" cy="640080"/>
          </a:xfrm>
          <a:prstGeom prst="ellipse">
            <a:avLst/>
          </a:prstGeom>
          <a:solidFill>
            <a:srgbClr val="17362B"/>
          </a:solidFill>
          <a:ln w="12700">
            <a:solidFill>
              <a:srgbClr val="17362B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2981" y="130942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79792" y="11430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9D8C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800" dirty="0"/>
          </a:p>
        </p:txBody>
      </p:sp>
      <p:sp>
        <p:nvSpPr>
          <p:cNvPr id="22" name="Text 16"/>
          <p:cNvSpPr txBox="1"/>
          <p:nvPr/>
        </p:nvSpPr>
        <p:spPr>
          <a:xfrm>
            <a:off x="676656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 markah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6766560" y="2212848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Sampai bulatan terakhir, kira markah. Yang paling tinggi, itulah personaliti dominan anda!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342900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40080" y="3703320"/>
            <a:ext cx="640080" cy="640080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501" y="3869741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35204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 Sifat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Soalan pasal diri anda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3273552" y="342900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3456432" y="3703320"/>
            <a:ext cx="640080" cy="640080"/>
          </a:xfrm>
          <a:prstGeom prst="ellipse">
            <a:avLst/>
          </a:prstGeom>
          <a:solidFill>
            <a:srgbClr val="0E8A7E"/>
          </a:solidFill>
          <a:ln w="12700">
            <a:solidFill>
              <a:srgbClr val="0E8A7E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22853" y="386974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233672" y="35204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 Senario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anda buat dalam situasi ni?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6089904" y="3429000"/>
            <a:ext cx="2606040" cy="1188720"/>
          </a:xfrm>
          <a:prstGeom prst="roundRect">
            <a:avLst>
              <a:gd name="adj" fmla="val 9231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6272784" y="3703320"/>
            <a:ext cx="640080" cy="64008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9205" y="3869741"/>
            <a:ext cx="307238" cy="307238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7050024" y="35204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 Lakonan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Jom berlakon sikit!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17B5336C-594A-4AF0-B123-F7962D053A70}"/>
              </a:ext>
            </a:extLst>
          </p:cNvPr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62B"/>
                </a:solidFill>
                <a:latin typeface="Cambria" pitchFamily="34" charset="0"/>
                <a:ea typeface="Cambria" pitchFamily="34" charset="-122"/>
              </a:rPr>
              <a:t>JOM MAIN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087092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3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554480"/>
            <a:ext cx="1463040" cy="146304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910" y="1934870"/>
            <a:ext cx="702259" cy="70225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560320" y="1417320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 3  •  CERAMAH SUSULAN &amp; REFLEKSI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2560320" y="182880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Jom Tengok Keputusan!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2560320" y="29718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 tengok personaliti masing-masing, borak sikit, dan jangan lupa ambil sijil.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 3 • PENERANGAN KEPUTUSAN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Keputusan Personaliti Anda?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640080" cy="640080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1" y="14465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280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</a:t>
            </a: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Tenang &amp; harmoni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9659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Hebat dalam: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Penyabar, pendengar yang baik, menjaga hubungan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 jaga: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Sukar berkata "tidak", mengelak konflik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sekolah: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Membina suasana kelas yang selamat dan mesra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46320" y="1280160"/>
            <a:ext cx="640080" cy="640080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2741" y="14465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280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</a:t>
            </a: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Bijak &amp; analitikal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19659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Hebat dalam: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Teliti, sistematik, berasaskan fakta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 jaga: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Terlalu berhati-hati, lambat membuat keputusan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sekolah: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Perancangan PdP yang tersusun dan terperinci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92608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3108960"/>
            <a:ext cx="640080" cy="640080"/>
          </a:xfrm>
          <a:prstGeom prst="ellipse">
            <a:avLst/>
          </a:prstGeom>
          <a:solidFill>
            <a:srgbClr val="0E8A7E"/>
          </a:solidFill>
          <a:ln w="12700">
            <a:solidFill>
              <a:srgbClr val="0E8A7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501" y="32753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108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Peacock </a:t>
            </a: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Ekspresif &amp; bersosial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37947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Hebat dalam: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Kreatif, bertenaga, pandai berkomunikasi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 jaga: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 fokus pada perincian dan susulan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sekolah: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Menghidupkan kelas dan memotivasi murid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663440" y="2926080"/>
            <a:ext cx="4023360" cy="1645920"/>
          </a:xfrm>
          <a:prstGeom prst="roundRect">
            <a:avLst>
              <a:gd name="adj" fmla="val 6667"/>
            </a:avLst>
          </a:prstGeom>
          <a:solidFill>
            <a:srgbClr val="E8F1EC"/>
          </a:solidFill>
          <a:ln w="12700">
            <a:solidFill>
              <a:srgbClr val="E8F1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46320" y="3108960"/>
            <a:ext cx="640080" cy="64008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2741" y="327538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23560" y="3108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7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Eagle </a:t>
            </a:r>
            <a:r>
              <a:rPr lang="en-US" sz="11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Dominan &amp; berorientasikan matlamat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4846320" y="37947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Hebat dalam: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Tegas, pantas bertindak, fokus pada hasil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 jaga: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 sabar, boleh kelihatan terlalu mendesak</a:t>
            </a:r>
            <a:endParaRPr lang="en-US" sz="105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050" b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sekolah: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Memimpin projek dan mencapai sasaran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8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9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E8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FASA 3 • SESI REFLEKSI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Jom Borak Sikit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271016"/>
            <a:ext cx="475488" cy="475488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19" y="1394643"/>
            <a:ext cx="228234" cy="22823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14300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Personaliti anda sama tak dengan tekaan awal tadi?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1792" y="2139696"/>
            <a:ext cx="475488" cy="475488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19" y="2263323"/>
            <a:ext cx="228234" cy="22823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80160" y="201168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Boleh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kenalpasti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kelebihan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digunakan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dalam kelas?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288036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21792" y="3008376"/>
            <a:ext cx="475488" cy="475488"/>
          </a:xfrm>
          <a:prstGeom prst="ellipse">
            <a:avLst/>
          </a:prstGeom>
          <a:solidFill>
            <a:srgbClr val="0E8A7E"/>
          </a:solidFill>
          <a:ln w="12700">
            <a:solidFill>
              <a:srgbClr val="0E8A7E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19" y="3132003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288036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Personaliti mana yang paling susah untuk anda bekerjasama? Macam mana nak sesuaikan diri?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57200" y="374904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1792" y="3877056"/>
            <a:ext cx="475488" cy="475488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419" y="4000683"/>
            <a:ext cx="228234" cy="22823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280160" y="374904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Macam mana DOPE boleh bantu anda faham murid-murid?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0" y="1143000"/>
            <a:ext cx="2286000" cy="3337560"/>
          </a:xfrm>
          <a:prstGeom prst="roundRect">
            <a:avLst>
              <a:gd name="adj" fmla="val 4800"/>
            </a:avLst>
          </a:prstGeom>
          <a:solidFill>
            <a:srgbClr val="17362B"/>
          </a:solidFill>
          <a:ln w="12700">
            <a:solidFill>
              <a:srgbClr val="17362B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417320"/>
            <a:ext cx="914400" cy="9144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583680" y="2514600"/>
            <a:ext cx="1920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Borak dalam kumpulan 10 minit, lepas tu kongsi satu perkara dengan semua.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3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51760" y="685800"/>
            <a:ext cx="777240" cy="777240"/>
          </a:xfrm>
          <a:prstGeom prst="ellipse">
            <a:avLst/>
          </a:prstGeom>
          <a:solidFill>
            <a:srgbClr val="5B8DB8"/>
          </a:solidFill>
          <a:ln w="12700">
            <a:solidFill>
              <a:srgbClr val="5B8DB8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842" y="887882"/>
            <a:ext cx="373075" cy="37307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0" y="685800"/>
            <a:ext cx="777240" cy="777240"/>
          </a:xfrm>
          <a:prstGeom prst="ellipse">
            <a:avLst/>
          </a:prstGeom>
          <a:solidFill>
            <a:srgbClr val="8B5A2B"/>
          </a:solidFill>
          <a:ln w="12700">
            <a:solidFill>
              <a:srgbClr val="8B5A2B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9682" y="887882"/>
            <a:ext cx="373075" cy="37307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663440" y="685800"/>
            <a:ext cx="777240" cy="777240"/>
          </a:xfrm>
          <a:prstGeom prst="ellipse">
            <a:avLst/>
          </a:prstGeom>
          <a:solidFill>
            <a:srgbClr val="0E8A7E"/>
          </a:solidFill>
          <a:ln w="12700">
            <a:solidFill>
              <a:srgbClr val="0E8A7E"/>
            </a:solidFill>
            <a:prstDash val="solid"/>
          </a:ln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5522" y="887882"/>
            <a:ext cx="373075" cy="37307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669280" y="685800"/>
            <a:ext cx="777240" cy="777240"/>
          </a:xfrm>
          <a:prstGeom prst="ellipse">
            <a:avLst/>
          </a:prstGeom>
          <a:solidFill>
            <a:srgbClr val="C9971C"/>
          </a:solidFill>
          <a:ln w="12700">
            <a:solidFill>
              <a:srgbClr val="C9971C"/>
            </a:solidFill>
            <a:prstDash val="solid"/>
          </a:ln>
        </p:spPr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1362" y="887882"/>
            <a:ext cx="373075" cy="373075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Kasih!</a:t>
            </a:r>
            <a:endParaRPr lang="en-US" sz="4400" dirty="0"/>
          </a:p>
        </p:txBody>
      </p:sp>
      <p:sp>
        <p:nvSpPr>
          <p:cNvPr id="11" name="Text 5"/>
          <p:cNvSpPr txBox="1"/>
          <p:nvPr/>
        </p:nvSpPr>
        <p:spPr>
          <a:xfrm>
            <a:off x="457200" y="2514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F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personaliti ada kelebihannya. Kenal diri, faham orang lain.</a:t>
            </a:r>
            <a:endParaRPr lang="en-US" sz="1600" dirty="0"/>
          </a:p>
        </p:txBody>
      </p:sp>
      <p:sp>
        <p:nvSpPr>
          <p:cNvPr id="12" name="Shape 6"/>
          <p:cNvSpPr/>
          <p:nvPr/>
        </p:nvSpPr>
        <p:spPr>
          <a:xfrm>
            <a:off x="2514600" y="3246120"/>
            <a:ext cx="4114800" cy="594360"/>
          </a:xfrm>
          <a:prstGeom prst="roundRect">
            <a:avLst>
              <a:gd name="adj" fmla="val 15385"/>
            </a:avLst>
          </a:prstGeom>
          <a:solidFill>
            <a:srgbClr val="22503F"/>
          </a:solidFill>
          <a:ln w="12700">
            <a:solidFill>
              <a:srgbClr val="22503F"/>
            </a:solidFill>
            <a:prstDash val="solid"/>
          </a:ln>
        </p:spPr>
        <p:txBody>
          <a:bodyPr/>
          <a:lstStyle/>
          <a:p>
            <a:endParaRPr lang="en-MY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3355848"/>
            <a:ext cx="365760" cy="36576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3246120" y="32461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 PENYAMPAIANCENDERAHATI</a:t>
            </a:r>
            <a:endParaRPr lang="en-US" sz="1400" dirty="0"/>
          </a:p>
        </p:txBody>
      </p:sp>
      <p:sp>
        <p:nvSpPr>
          <p:cNvPr id="15" name="Text 8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B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Jabatan Perniagaan, KPTM Kuantan  •  Pemenang Anugerah Emas pertandingan inovasi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987</Words>
  <Application>Microsoft Office PowerPoint</Application>
  <PresentationFormat>On-screen Show (16:9)</PresentationFormat>
  <Paragraphs>177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 DOPE Personality Test (Guru)</dc:title>
  <dc:subject>PptxGenJS Presentation</dc:subject>
  <dc:creator>KPTM Kuantan</dc:creator>
  <cp:lastModifiedBy>KHUIRAUNI</cp:lastModifiedBy>
  <cp:revision>3</cp:revision>
  <dcterms:created xsi:type="dcterms:W3CDTF">2026-09-27T13:06:46Z</dcterms:created>
  <dcterms:modified xsi:type="dcterms:W3CDTF">2026-09-27T13:18:29Z</dcterms:modified>
</cp:coreProperties>
</file>